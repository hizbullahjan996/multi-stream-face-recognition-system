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274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5619" y="1329331"/>
            <a:ext cx="105743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83052"/>
                </a:solidFill>
                <a:latin typeface="Aptos Display"/>
              </a:defRPr>
            </a:pPr>
            <a:r>
              <a:rPr lang="en-US" dirty="0"/>
              <a:t>MULTI-STREAM FACE DETECTION AND INTELLIGENT PERSON TRACKING PIPELINE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76022" y="3415729"/>
            <a:ext cx="73643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183052"/>
                </a:solidFill>
                <a:latin typeface="Aptos Display"/>
              </a:rPr>
              <a:t>Group </a:t>
            </a:r>
            <a:r>
              <a:rPr lang="en-US" sz="2800" b="1" dirty="0" smtClean="0">
                <a:solidFill>
                  <a:srgbClr val="183052"/>
                </a:solidFill>
                <a:latin typeface="Aptos Display"/>
              </a:rPr>
              <a:t>Members:</a:t>
            </a:r>
          </a:p>
          <a:p>
            <a:pPr algn="ctr"/>
            <a:r>
              <a:rPr lang="en-US" sz="2800" b="1" dirty="0" err="1" smtClean="0">
                <a:solidFill>
                  <a:srgbClr val="183052"/>
                </a:solidFill>
                <a:latin typeface="Aptos Display"/>
              </a:rPr>
              <a:t>Shahzeb</a:t>
            </a:r>
            <a:r>
              <a:rPr lang="en-US" sz="2800" b="1" dirty="0" smtClean="0">
                <a:solidFill>
                  <a:srgbClr val="183052"/>
                </a:solidFill>
                <a:latin typeface="Aptos Display"/>
              </a:rPr>
              <a:t> Amin</a:t>
            </a:r>
          </a:p>
          <a:p>
            <a:pPr algn="ctr"/>
            <a:r>
              <a:rPr lang="en-US" sz="2800" b="1" dirty="0" err="1" smtClean="0">
                <a:solidFill>
                  <a:srgbClr val="183052"/>
                </a:solidFill>
                <a:latin typeface="Aptos Display"/>
              </a:rPr>
              <a:t>Hizb</a:t>
            </a:r>
            <a:r>
              <a:rPr lang="en-US" sz="2800" b="1" dirty="0" smtClean="0">
                <a:solidFill>
                  <a:srgbClr val="183052"/>
                </a:solidFill>
                <a:latin typeface="Aptos Display"/>
              </a:rPr>
              <a:t> </a:t>
            </a:r>
            <a:r>
              <a:rPr lang="en-US" sz="2800" b="1" dirty="0" err="1">
                <a:solidFill>
                  <a:srgbClr val="183052"/>
                </a:solidFill>
                <a:latin typeface="Aptos Display"/>
              </a:rPr>
              <a:t>Ullah</a:t>
            </a:r>
            <a:r>
              <a:rPr lang="en-US" sz="2800" b="1" dirty="0">
                <a:solidFill>
                  <a:srgbClr val="183052"/>
                </a:solidFill>
                <a:latin typeface="Aptos Display"/>
              </a:rPr>
              <a:t> </a:t>
            </a:r>
            <a:endParaRPr lang="en-US" sz="2800" b="1" dirty="0">
              <a:solidFill>
                <a:srgbClr val="183052"/>
              </a:solidFill>
              <a:latin typeface="Aptos Display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7080" y="6547104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1. Project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44600"/>
            <a:ext cx="1060704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82D"/>
                </a:solidFill>
                <a:latin typeface="Aptos"/>
              </a:defRPr>
            </a:pPr>
            <a:r>
              <a:t>• Detect faces from uploaded videos.</a:t>
            </a:r>
          </a:p>
          <a:p>
            <a:pPr>
              <a:spcAft>
                <a:spcPts val="900"/>
              </a:spcAft>
              <a:defRPr sz="2100">
                <a:solidFill>
                  <a:srgbClr val="23282D"/>
                </a:solidFill>
                <a:latin typeface="Aptos"/>
              </a:defRPr>
            </a:pPr>
            <a:r>
              <a:t>• Create a face embedding for every detected face.</a:t>
            </a:r>
          </a:p>
          <a:p>
            <a:pPr>
              <a:spcAft>
                <a:spcPts val="900"/>
              </a:spcAft>
              <a:defRPr sz="2100">
                <a:solidFill>
                  <a:srgbClr val="23282D"/>
                </a:solidFill>
                <a:latin typeface="Aptos"/>
              </a:defRPr>
            </a:pPr>
            <a:r>
              <a:t>• Compare the embedding with registered people in the database.</a:t>
            </a:r>
          </a:p>
          <a:p>
            <a:pPr>
              <a:spcAft>
                <a:spcPts val="900"/>
              </a:spcAft>
              <a:defRPr sz="2100">
                <a:solidFill>
                  <a:srgbClr val="23282D"/>
                </a:solidFill>
                <a:latin typeface="Aptos"/>
              </a:defRPr>
            </a:pPr>
            <a:r>
              <a:t>• Show the person's name when the similarity is at least 60%.</a:t>
            </a:r>
          </a:p>
          <a:p>
            <a:pPr>
              <a:spcAft>
                <a:spcPts val="900"/>
              </a:spcAft>
              <a:defRPr sz="2100">
                <a:solidFill>
                  <a:srgbClr val="23282D"/>
                </a:solidFill>
                <a:latin typeface="Aptos"/>
              </a:defRPr>
            </a:pPr>
            <a:r>
              <a:t>• If the face is not recognized, generate an Unknown / Alert event.</a:t>
            </a:r>
          </a:p>
          <a:p>
            <a:pPr>
              <a:spcAft>
                <a:spcPts val="900"/>
              </a:spcAft>
              <a:defRPr sz="2100">
                <a:solidFill>
                  <a:srgbClr val="23282D"/>
                </a:solidFill>
                <a:latin typeface="Aptos"/>
              </a:defRPr>
            </a:pPr>
            <a:r>
              <a:t>• Process multiple videos using a shared GPU pipeline.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27080" y="6547104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-219456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  <a:latin typeface="Aptos"/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  <a:latin typeface="Aptos"/>
              </a:defRPr>
            </a:pPr>
            <a:r>
              <a:rPr lang="en-US" dirty="0" smtClean="0"/>
              <a:t>• </a:t>
            </a:r>
            <a:r>
              <a:rPr lang="en-US" dirty="0"/>
              <a:t>Video → NVDEC GPU </a:t>
            </a:r>
            <a:r>
              <a:rPr lang="en-US" dirty="0" smtClean="0"/>
              <a:t>decode</a:t>
            </a:r>
          </a:p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  <a:latin typeface="Aptos"/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  <a:latin typeface="Aptos"/>
              </a:defRPr>
            </a:pPr>
            <a:r>
              <a:rPr lang="en-US" dirty="0" smtClean="0"/>
              <a:t>• </a:t>
            </a:r>
            <a:r>
              <a:rPr lang="en-US" dirty="0"/>
              <a:t>SCRFD on </a:t>
            </a:r>
            <a:r>
              <a:rPr lang="en-US" dirty="0" err="1" smtClean="0"/>
              <a:t>TensorRT</a:t>
            </a:r>
            <a:endParaRPr lang="en-US" dirty="0" smtClean="0"/>
          </a:p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  <a:latin typeface="Aptos"/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  <a:latin typeface="Aptos"/>
              </a:defRPr>
            </a:pPr>
            <a:r>
              <a:rPr lang="en-US" dirty="0" smtClean="0"/>
              <a:t>• </a:t>
            </a:r>
            <a:r>
              <a:rPr lang="en-US" dirty="0"/>
              <a:t>Face crop + </a:t>
            </a:r>
            <a:r>
              <a:rPr lang="en-US" dirty="0" err="1"/>
              <a:t>IoU</a:t>
            </a:r>
            <a:r>
              <a:rPr lang="en-US" dirty="0"/>
              <a:t> </a:t>
            </a:r>
            <a:r>
              <a:rPr lang="en-US" dirty="0" smtClean="0"/>
              <a:t>tracking</a:t>
            </a:r>
          </a:p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  <a:latin typeface="Aptos"/>
              </a:defRPr>
            </a:pPr>
            <a:r>
              <a:rPr lang="en-US" dirty="0"/>
              <a:t>• W600K on </a:t>
            </a:r>
            <a:r>
              <a:rPr lang="en-US" dirty="0" err="1" smtClean="0"/>
              <a:t>TensorRT</a:t>
            </a:r>
            <a:endParaRPr lang="en-US" dirty="0" smtClean="0"/>
          </a:p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  <a:latin typeface="Aptos"/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  <a:latin typeface="Aptos"/>
              </a:defRPr>
            </a:pPr>
            <a:r>
              <a:rPr lang="en-US" dirty="0" smtClean="0"/>
              <a:t>• </a:t>
            </a:r>
            <a:r>
              <a:rPr lang="en-US" dirty="0"/>
              <a:t>512-D </a:t>
            </a:r>
            <a:r>
              <a:rPr lang="en-US" dirty="0" smtClean="0"/>
              <a:t>embedding</a:t>
            </a:r>
          </a:p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  <a:latin typeface="Aptos"/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  <a:latin typeface="Aptos"/>
              </a:defRPr>
            </a:pPr>
            <a:r>
              <a:rPr lang="en-US" dirty="0" smtClean="0"/>
              <a:t>• </a:t>
            </a:r>
            <a:r>
              <a:rPr lang="en-US" dirty="0"/>
              <a:t>Persistent gallery </a:t>
            </a:r>
            <a:r>
              <a:rPr lang="en-US" dirty="0" err="1" smtClean="0"/>
              <a:t>embeddings</a:t>
            </a:r>
            <a:endParaRPr lang="en-US" dirty="0" smtClean="0"/>
          </a:p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  <a:latin typeface="Aptos"/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  <a:latin typeface="Aptos"/>
              </a:defRPr>
            </a:pPr>
            <a:r>
              <a:rPr lang="en-US" dirty="0" smtClean="0"/>
              <a:t>• </a:t>
            </a:r>
            <a:r>
              <a:rPr lang="en-US" dirty="0"/>
              <a:t>Cosine similarity on </a:t>
            </a:r>
            <a:r>
              <a:rPr lang="en-US" dirty="0" smtClean="0"/>
              <a:t>GPU</a:t>
            </a:r>
          </a:p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  <a:latin typeface="Aptos"/>
              </a:defRPr>
            </a:pPr>
            <a:endParaRPr lang="en-US" dirty="0" smtClean="0"/>
          </a:p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  <a:latin typeface="Aptos"/>
              </a:defRPr>
            </a:pPr>
            <a:r>
              <a:rPr lang="en-US" dirty="0" smtClean="0"/>
              <a:t>• </a:t>
            </a:r>
            <a:r>
              <a:rPr lang="en-US" dirty="0"/>
              <a:t>60% threshold → Known / Unknown alert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E7D50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</a:rPr>
              <a:t>The core face-recognition flow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27080" y="6547104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3. Registered Face Database (Gallery)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2194560" cy="658368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3052"/>
                </a:solidFill>
                <a:latin typeface="Aptos"/>
              </a:defRPr>
            </a:pPr>
            <a:r>
              <a:t>Registered People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26080" y="1563624"/>
            <a:ext cx="777240" cy="0"/>
          </a:xfrm>
          <a:prstGeom prst="line">
            <a:avLst/>
          </a:prstGeom>
          <a:ln w="279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703320" y="1097280"/>
            <a:ext cx="20574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282D"/>
                </a:solidFill>
                <a:latin typeface="Aptos"/>
              </a:defRPr>
            </a:pPr>
            <a:r>
              <a:t>SCRFD</a:t>
            </a:r>
            <a:br/>
            <a:r>
              <a:t>Face Detection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60720" y="1563624"/>
            <a:ext cx="777240" cy="0"/>
          </a:xfrm>
          <a:prstGeom prst="line">
            <a:avLst/>
          </a:prstGeom>
          <a:ln w="279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537960" y="1097280"/>
            <a:ext cx="18288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282D"/>
                </a:solidFill>
                <a:latin typeface="Aptos"/>
              </a:defRPr>
            </a:pPr>
            <a:r>
              <a:t>Face Crop</a:t>
            </a:r>
            <a:br/>
            <a:r>
              <a:t>112 × 112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366760" y="1563624"/>
            <a:ext cx="777240" cy="0"/>
          </a:xfrm>
          <a:prstGeom prst="line">
            <a:avLst/>
          </a:prstGeom>
          <a:ln w="279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0" y="1097280"/>
            <a:ext cx="2240280" cy="914400"/>
          </a:xfrm>
          <a:prstGeom prst="roundRect">
            <a:avLst/>
          </a:prstGeom>
          <a:solidFill>
            <a:srgbClr val="E8F5EB"/>
          </a:solidFill>
          <a:ln w="15240"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E7D50"/>
                </a:solidFill>
                <a:latin typeface="Aptos"/>
              </a:defRPr>
            </a:pPr>
            <a:r>
              <a:t>W600K</a:t>
            </a:r>
            <a:br/>
            <a:r>
              <a:t>512-D Embedding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241280" y="2011680"/>
            <a:ext cx="0" cy="777240"/>
          </a:xfrm>
          <a:prstGeom prst="line">
            <a:avLst/>
          </a:prstGeom>
          <a:ln w="279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909560" y="2788920"/>
            <a:ext cx="3657600" cy="91440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82D"/>
                </a:solidFill>
                <a:latin typeface="Aptos"/>
              </a:defRPr>
            </a:pPr>
            <a:r>
              <a:t>Persistent Gallery Database</a:t>
            </a:r>
            <a:br/>
            <a:r>
              <a:t>Name + embedding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743200"/>
            <a:ext cx="649224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• Images can be uploaded as individual files or a ZIP.</a:t>
            </a:r>
          </a:p>
          <a:p>
            <a:pPr>
              <a:spcAft>
                <a:spcPts val="9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• Person name can come from a folder name or filename.</a:t>
            </a:r>
          </a:p>
          <a:p>
            <a:pPr>
              <a:spcAft>
                <a:spcPts val="9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• Duplicate images are skipped.</a:t>
            </a:r>
          </a:p>
          <a:p>
            <a:pPr>
              <a:spcAft>
                <a:spcPts val="9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• Embeddings are saved and reused for future videos.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27080" y="6547104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32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4. Video Input and Face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691640" cy="822960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3052"/>
                </a:solidFill>
                <a:latin typeface="Aptos"/>
              </a:defRPr>
            </a:pPr>
            <a:r>
              <a:t>Uploaded</a:t>
            </a:r>
            <a:br/>
            <a:r>
              <a:t>Videos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77440" y="1737360"/>
            <a:ext cx="365760" cy="0"/>
          </a:xfrm>
          <a:prstGeom prst="line">
            <a:avLst/>
          </a:prstGeom>
          <a:ln w="279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43200" y="1325880"/>
            <a:ext cx="1691640" cy="822960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3052"/>
                </a:solidFill>
                <a:latin typeface="Aptos"/>
              </a:defRPr>
            </a:pPr>
            <a:r>
              <a:t>NVDEC</a:t>
            </a:r>
            <a:br/>
            <a:r>
              <a:t>GPU Decode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434840" y="1737360"/>
            <a:ext cx="411480" cy="0"/>
          </a:xfrm>
          <a:prstGeom prst="line">
            <a:avLst/>
          </a:prstGeom>
          <a:ln w="279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846320" y="1325880"/>
            <a:ext cx="1691640" cy="822960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3052"/>
                </a:solidFill>
                <a:latin typeface="Aptos"/>
              </a:defRPr>
            </a:pPr>
            <a:r>
              <a:t>SCRFD</a:t>
            </a:r>
            <a:br/>
            <a:r>
              <a:t>TensorRT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37960" y="1737360"/>
            <a:ext cx="411480" cy="0"/>
          </a:xfrm>
          <a:prstGeom prst="line">
            <a:avLst/>
          </a:prstGeom>
          <a:ln w="279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0" y="1325880"/>
            <a:ext cx="169164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282D"/>
                </a:solidFill>
                <a:latin typeface="Aptos"/>
              </a:defRPr>
            </a:pPr>
            <a:r>
              <a:t>Face</a:t>
            </a:r>
            <a:br/>
            <a:r>
              <a:t>Crop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41080" y="1737360"/>
            <a:ext cx="228600" cy="0"/>
          </a:xfrm>
          <a:prstGeom prst="line">
            <a:avLst/>
          </a:prstGeom>
          <a:ln w="279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869680" y="1325880"/>
            <a:ext cx="169164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282D"/>
                </a:solidFill>
                <a:latin typeface="Aptos"/>
              </a:defRPr>
            </a:pPr>
            <a:r>
              <a:t>IoU</a:t>
            </a:r>
            <a:br/>
            <a:r>
              <a:t>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788920"/>
            <a:ext cx="1033272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t>• FFmpeg NVDEC is used for GPU video decoding.</a:t>
            </a:r>
          </a:p>
          <a:p>
            <a:pPr>
              <a:spcAft>
                <a:spcPts val="9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t>• SCRFD detects faces using a TensorRT engine.</a:t>
            </a:r>
          </a:p>
          <a:p>
            <a:pPr>
              <a:spcAft>
                <a:spcPts val="9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t>• The system keeps track of detected faces between detection rounds.</a:t>
            </a:r>
          </a:p>
          <a:p>
            <a:pPr>
              <a:spcAft>
                <a:spcPts val="9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t>• Every output frame is written in order for file processing.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27080" y="6547104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5. Face Embedding and Recognition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920240" cy="731520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83052"/>
                </a:solidFill>
                <a:latin typeface="Aptos"/>
              </a:defRPr>
            </a:pPr>
            <a:r>
              <a:t>Detected Face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51760" y="1783080"/>
            <a:ext cx="1005840" cy="0"/>
          </a:xfrm>
          <a:prstGeom prst="line">
            <a:avLst/>
          </a:prstGeom>
          <a:ln w="279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657600" y="1325880"/>
            <a:ext cx="19202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82D"/>
                </a:solidFill>
                <a:latin typeface="Aptos"/>
              </a:defRPr>
            </a:pPr>
            <a:r>
              <a:t>112 × 112</a:t>
            </a:r>
            <a:br/>
            <a:r>
              <a:t>Face Crop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577840" y="1783080"/>
            <a:ext cx="1005840" cy="0"/>
          </a:xfrm>
          <a:prstGeom prst="line">
            <a:avLst/>
          </a:prstGeom>
          <a:ln w="279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583680" y="1325880"/>
            <a:ext cx="1828800" cy="914400"/>
          </a:xfrm>
          <a:prstGeom prst="roundRect">
            <a:avLst/>
          </a:prstGeom>
          <a:solidFill>
            <a:srgbClr val="E8F5EB"/>
          </a:solidFill>
          <a:ln w="15240"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E7D50"/>
                </a:solidFill>
                <a:latin typeface="Aptos"/>
              </a:defRPr>
            </a:pPr>
            <a:r>
              <a:t>W600K</a:t>
            </a:r>
            <a:br/>
            <a:r>
              <a:t>TensorRT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12480" y="1783080"/>
            <a:ext cx="1005840" cy="0"/>
          </a:xfrm>
          <a:prstGeom prst="line">
            <a:avLst/>
          </a:prstGeom>
          <a:ln w="279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418320" y="1325880"/>
            <a:ext cx="18288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82D"/>
                </a:solidFill>
                <a:latin typeface="Aptos"/>
              </a:defRPr>
            </a:pPr>
            <a:r>
              <a:t>512-D</a:t>
            </a:r>
            <a:br/>
            <a:r>
              <a:t>Embedding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1033272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t>• W600K converts each face crop into a 512-dimensional numerical vector.</a:t>
            </a:r>
          </a:p>
          <a:p>
            <a:pPr>
              <a:spcAft>
                <a:spcPts val="9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t>• The video embedding is compared with registered embeddings.</a:t>
            </a:r>
          </a:p>
          <a:p>
            <a:pPr>
              <a:spcAft>
                <a:spcPts val="9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t>• Embeddings are normalized before cosine similarity is calculated.</a:t>
            </a:r>
          </a:p>
          <a:p>
            <a:pPr>
              <a:spcAft>
                <a:spcPts val="9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t>• The matching step can run as one GPU batch for faces from multiple streams.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27080" y="6547104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6. Cosine Similarity and Alert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103120" cy="868680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83052"/>
                </a:solidFill>
                <a:latin typeface="Aptos"/>
              </a:defRPr>
            </a:pPr>
            <a:r>
              <a:t>Video Face</a:t>
            </a:r>
            <a:br/>
            <a:r>
              <a:t>Embedding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34640" y="1810512"/>
            <a:ext cx="1142999" cy="0"/>
          </a:xfrm>
          <a:prstGeom prst="line">
            <a:avLst/>
          </a:prstGeom>
          <a:ln w="279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977639" y="1325880"/>
            <a:ext cx="192024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3282D"/>
                </a:solidFill>
                <a:latin typeface="Aptos"/>
              </a:defRPr>
            </a:pPr>
            <a:r>
              <a:t>Cosine</a:t>
            </a:r>
            <a:br/>
            <a:r>
              <a:t>Similarity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97880" y="1810512"/>
            <a:ext cx="1005840" cy="0"/>
          </a:xfrm>
          <a:prstGeom prst="line">
            <a:avLst/>
          </a:prstGeom>
          <a:ln w="279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903720" y="1325880"/>
            <a:ext cx="196596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82D"/>
                </a:solidFill>
                <a:latin typeface="Aptos"/>
              </a:defRPr>
            </a:pPr>
            <a:r>
              <a:t>Compare with</a:t>
            </a:r>
            <a:br/>
            <a:r>
              <a:t>Gallery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869680" y="1810512"/>
            <a:ext cx="777240" cy="0"/>
          </a:xfrm>
          <a:prstGeom prst="line">
            <a:avLst/>
          </a:prstGeom>
          <a:ln w="279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646920" y="1051560"/>
            <a:ext cx="1828800" cy="868680"/>
          </a:xfrm>
          <a:prstGeom prst="roundRect">
            <a:avLst/>
          </a:prstGeom>
          <a:solidFill>
            <a:srgbClr val="E8F5EB"/>
          </a:solidFill>
          <a:ln w="15240"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E7D50"/>
                </a:solidFill>
                <a:latin typeface="Aptos"/>
              </a:defRPr>
            </a:pPr>
            <a:r>
              <a:t>≥ 60%</a:t>
            </a:r>
            <a:br/>
            <a:r>
              <a:t>Known Person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2148840"/>
            <a:ext cx="1828800" cy="868680"/>
          </a:xfrm>
          <a:prstGeom prst="roundRect">
            <a:avLst/>
          </a:prstGeom>
          <a:solidFill>
            <a:srgbClr val="FAEBEB"/>
          </a:solidFill>
          <a:ln w="15240">
            <a:solidFill>
              <a:srgbClr val="B4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B43737"/>
                </a:solidFill>
                <a:latin typeface="Aptos"/>
              </a:defRPr>
            </a:pPr>
            <a:r>
              <a:t>&lt; 60%</a:t>
            </a:r>
            <a:br/>
            <a:r>
              <a:t>Unknown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1033272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• Threshold in the notebook: 0.60 (60%).</a:t>
            </a:r>
          </a:p>
          <a:p>
            <a:pPr>
              <a:spcAft>
                <a:spcPts val="9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• A score at or above 60% is treated as a known match.</a:t>
            </a:r>
          </a:p>
          <a:p>
            <a:pPr>
              <a:spcAft>
                <a:spcPts val="9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• A lower score is treated as Unknown.</a:t>
            </a:r>
          </a:p>
          <a:p>
            <a:pPr>
              <a:spcAft>
                <a:spcPts val="9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• Unknown tracks can create an alert after the configured number of unknown hits.</a:t>
            </a:r>
          </a:p>
          <a:p>
            <a:pPr>
              <a:spcAft>
                <a:spcPts val="9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• The final video can show the identity and similarity score on the face box.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27080" y="6547104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7. Multi-Video Processing — Important Notebook Addition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1417320" cy="594360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3052"/>
                </a:solidFill>
                <a:latin typeface="Aptos"/>
              </a:defRPr>
            </a:pPr>
            <a:r>
              <a:t>Video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1417320" cy="594360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3052"/>
                </a:solidFill>
                <a:latin typeface="Aptos"/>
              </a:defRPr>
            </a:pPr>
            <a:r>
              <a:t>Video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880360"/>
            <a:ext cx="1417320" cy="594360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3052"/>
                </a:solidFill>
                <a:latin typeface="Aptos"/>
              </a:defRPr>
            </a:pPr>
            <a:r>
              <a:t>Video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703320"/>
            <a:ext cx="1417320" cy="594360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3052"/>
                </a:solidFill>
                <a:latin typeface="Aptos"/>
              </a:defRPr>
            </a:pPr>
            <a:r>
              <a:t>Video 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03120" y="1536192"/>
            <a:ext cx="1097280" cy="0"/>
          </a:xfrm>
          <a:prstGeom prst="line">
            <a:avLst/>
          </a:prstGeom>
          <a:ln w="279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03120" y="2359152"/>
            <a:ext cx="1097280" cy="0"/>
          </a:xfrm>
          <a:prstGeom prst="line">
            <a:avLst/>
          </a:prstGeom>
          <a:ln w="279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103120" y="3182112"/>
            <a:ext cx="1097280" cy="0"/>
          </a:xfrm>
          <a:prstGeom prst="line">
            <a:avLst/>
          </a:prstGeom>
          <a:ln w="279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103120" y="4005072"/>
            <a:ext cx="1097280" cy="0"/>
          </a:xfrm>
          <a:prstGeom prst="line">
            <a:avLst/>
          </a:prstGeom>
          <a:ln w="279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200400" y="2148840"/>
            <a:ext cx="182880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82D"/>
                </a:solidFill>
                <a:latin typeface="Aptos"/>
              </a:defRPr>
            </a:pPr>
            <a:r>
              <a:t>Reader +</a:t>
            </a:r>
            <a:br/>
            <a:r>
              <a:t>Frame Buffer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0" y="2743200"/>
            <a:ext cx="1097280" cy="0"/>
          </a:xfrm>
          <a:prstGeom prst="line">
            <a:avLst/>
          </a:prstGeom>
          <a:ln w="279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26480" y="1965960"/>
            <a:ext cx="2057400" cy="1554480"/>
          </a:xfrm>
          <a:prstGeom prst="roundRect">
            <a:avLst/>
          </a:prstGeom>
          <a:solidFill>
            <a:srgbClr val="E8F5EB"/>
          </a:solidFill>
          <a:ln w="15240"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E7D50"/>
                </a:solidFill>
                <a:latin typeface="Aptos"/>
              </a:defRPr>
            </a:pPr>
            <a:r>
              <a:t>ONE Shared</a:t>
            </a:r>
            <a:br/>
            <a:r>
              <a:t>GPU Worker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83879" y="2743200"/>
            <a:ext cx="1051561" cy="0"/>
          </a:xfrm>
          <a:prstGeom prst="line">
            <a:avLst/>
          </a:prstGeom>
          <a:ln w="279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235440" y="1965960"/>
            <a:ext cx="224028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82D"/>
                </a:solidFill>
                <a:latin typeface="Aptos"/>
              </a:defRPr>
            </a:pPr>
            <a:r>
              <a:t>SCRFD + W600K</a:t>
            </a:r>
            <a:br/>
            <a:r>
              <a:t>TensorRT Batches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617720"/>
            <a:ext cx="10515600" cy="106182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  <a:latin typeface="Aptos"/>
              </a:defRPr>
            </a:pPr>
            <a:r>
              <a:rPr dirty="0"/>
              <a:t>• </a:t>
            </a:r>
            <a:r>
              <a:rPr dirty="0" smtClean="0"/>
              <a:t>The concurrent</a:t>
            </a:r>
            <a:r>
              <a:rPr lang="en-US" dirty="0" smtClean="0"/>
              <a:t> 4</a:t>
            </a:r>
            <a:r>
              <a:rPr dirty="0" smtClean="0"/>
              <a:t> </a:t>
            </a:r>
            <a:r>
              <a:rPr dirty="0"/>
              <a:t>streams</a:t>
            </a:r>
            <a:r>
              <a:rPr dirty="0" smtClean="0"/>
              <a:t>.</a:t>
            </a:r>
            <a:endParaRPr dirty="0"/>
          </a:p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  <a:latin typeface="Aptos"/>
              </a:defRPr>
            </a:pPr>
            <a:r>
              <a:rPr dirty="0"/>
              <a:t>• Each stream has a bounded frame buffer.</a:t>
            </a:r>
          </a:p>
          <a:p>
            <a:pPr>
              <a:spcAft>
                <a:spcPts val="900"/>
              </a:spcAft>
              <a:defRPr sz="1600">
                <a:solidFill>
                  <a:srgbClr val="23282D"/>
                </a:solidFill>
                <a:latin typeface="Aptos"/>
              </a:defRPr>
            </a:pPr>
            <a:r>
              <a:rPr dirty="0"/>
              <a:t>• Only one controlled GPU worker accesses </a:t>
            </a:r>
            <a:r>
              <a:rPr dirty="0" err="1"/>
              <a:t>TensorRT</a:t>
            </a:r>
            <a:r>
              <a:rPr dirty="0"/>
              <a:t>, trackers and writers</a:t>
            </a:r>
            <a:r>
              <a:rPr dirty="0" smtClean="0"/>
              <a:t>.</a:t>
            </a:r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27080" y="6547104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8. GPU and CPU Responsibilities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143000"/>
            <a:ext cx="5120640" cy="384048"/>
          </a:xfrm>
          <a:prstGeom prst="roundRect">
            <a:avLst/>
          </a:prstGeom>
          <a:solidFill>
            <a:srgbClr val="18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NVIDIA GPU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143000"/>
            <a:ext cx="5120640" cy="384048"/>
          </a:xfrm>
          <a:prstGeom prst="roundRect">
            <a:avLst/>
          </a:prstGeom>
          <a:solidFill>
            <a:srgbClr val="5F6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t>• NVDEC video decoding</a:t>
            </a:r>
          </a:p>
          <a:p>
            <a:pPr>
              <a:spcAft>
                <a:spcPts val="9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t>• SCRFD face detection</a:t>
            </a:r>
          </a:p>
          <a:p>
            <a:pPr>
              <a:spcAft>
                <a:spcPts val="9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t>• W600K face embeddings</a:t>
            </a:r>
          </a:p>
          <a:p>
            <a:pPr>
              <a:spcAft>
                <a:spcPts val="9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t>• Cosine similarity / gallery comparison</a:t>
            </a:r>
          </a:p>
          <a:p>
            <a:pPr>
              <a:spcAft>
                <a:spcPts val="9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t>• TensorRT inference and batching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737360"/>
            <a:ext cx="475488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rPr dirty="0"/>
              <a:t>• Frame buffering and control</a:t>
            </a:r>
          </a:p>
          <a:p>
            <a:pPr>
              <a:spcAft>
                <a:spcPts val="9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rPr dirty="0"/>
              <a:t>• Face crop and image operations</a:t>
            </a:r>
          </a:p>
          <a:p>
            <a:pPr>
              <a:spcAft>
                <a:spcPts val="9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rPr dirty="0"/>
              <a:t>• Lightweight </a:t>
            </a:r>
            <a:r>
              <a:rPr dirty="0" err="1"/>
              <a:t>IoU</a:t>
            </a:r>
            <a:r>
              <a:rPr dirty="0"/>
              <a:t> tracking</a:t>
            </a:r>
          </a:p>
          <a:p>
            <a:pPr>
              <a:spcAft>
                <a:spcPts val="9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rPr dirty="0"/>
              <a:t>• Drawing boxes and labels</a:t>
            </a:r>
          </a:p>
          <a:p>
            <a:pPr>
              <a:spcAft>
                <a:spcPts val="9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rPr dirty="0"/>
              <a:t>• Video writing and final H.264 encoding when NVENC is not used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27080" y="6547104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410561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9. Performance Features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063240" cy="594360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3052"/>
                </a:solidFill>
                <a:latin typeface="Aptos"/>
              </a:defRPr>
            </a:pPr>
            <a:r>
              <a:t>Frame Sampling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47672"/>
            <a:ext cx="3063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2D"/>
                </a:solidFill>
                <a:latin typeface="Aptos"/>
              </a:defRPr>
            </a:pPr>
            <a:r>
              <a:t>Process up to the target FPS instead of running heavy AI work on every source frame.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234440"/>
            <a:ext cx="3063240" cy="594360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3052"/>
                </a:solidFill>
                <a:latin typeface="Aptos"/>
              </a:defRPr>
            </a:pPr>
            <a:r>
              <a:t>TensorRT Batching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947672"/>
            <a:ext cx="3063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2D"/>
                </a:solidFill>
                <a:latin typeface="Aptos"/>
              </a:defRPr>
            </a:pPr>
            <a:r>
              <a:t>Send multiple detection or recognition jobs in one inference call.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234440"/>
            <a:ext cx="3063240" cy="594360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3052"/>
                </a:solidFill>
                <a:latin typeface="Aptos"/>
              </a:defRPr>
            </a:pPr>
            <a:r>
              <a:t>Recognition Cache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947672"/>
            <a:ext cx="3063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2D"/>
                </a:solidFill>
                <a:latin typeface="Aptos"/>
              </a:defRPr>
            </a:pPr>
            <a:r>
              <a:t>Reuse a recent identity for a tracked face until re-recognition is due.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3063240" cy="594360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3052"/>
                </a:solidFill>
                <a:latin typeface="Aptos"/>
              </a:defRPr>
            </a:pPr>
            <a:r>
              <a:t>IoU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50791"/>
            <a:ext cx="3063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2D"/>
                </a:solidFill>
                <a:latin typeface="Aptos"/>
              </a:defRPr>
            </a:pPr>
            <a:r>
              <a:t>Keep a stable track ID between detection rounds.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3337560"/>
            <a:ext cx="3063240" cy="594360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3052"/>
                </a:solidFill>
                <a:latin typeface="Aptos"/>
              </a:defRPr>
            </a:pPr>
            <a:r>
              <a:t>Background Encoding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4050791"/>
            <a:ext cx="3063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2D"/>
                </a:solidFill>
                <a:latin typeface="Aptos"/>
              </a:defRPr>
            </a:pPr>
            <a:r>
              <a:t>H.264 encoding can run in the background while GPU processing continues.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337560"/>
            <a:ext cx="3063240" cy="594360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3052"/>
                </a:solidFill>
                <a:latin typeface="Aptos"/>
              </a:defRPr>
            </a:pPr>
            <a:r>
              <a:t>Bounded Buffers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050791"/>
            <a:ext cx="3063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82D"/>
                </a:solidFill>
                <a:latin typeface="Aptos"/>
              </a:defRPr>
            </a:pPr>
            <a:r>
              <a:t>Limit queued frames so memory use stays controlled.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27080" y="6547104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10. Complete System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1645920" cy="731520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3052"/>
                </a:solidFill>
                <a:latin typeface="Aptos"/>
              </a:defRPr>
            </a:pPr>
            <a:r>
              <a:t>Registered</a:t>
            </a:r>
            <a:br/>
            <a:r>
              <a:t>Face Images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48840" y="1417319"/>
            <a:ext cx="274320" cy="0"/>
          </a:xfrm>
          <a:prstGeom prst="line">
            <a:avLst/>
          </a:prstGeom>
          <a:ln w="279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423160" y="1051560"/>
            <a:ext cx="1645920" cy="731520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3052"/>
                </a:solidFill>
                <a:latin typeface="Aptos"/>
              </a:defRPr>
            </a:pPr>
            <a:r>
              <a:t>SCRFD</a:t>
            </a:r>
            <a:br/>
            <a:r>
              <a:t>Detection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69080" y="1417319"/>
            <a:ext cx="274320" cy="0"/>
          </a:xfrm>
          <a:prstGeom prst="line">
            <a:avLst/>
          </a:prstGeom>
          <a:ln w="279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43400" y="1051560"/>
            <a:ext cx="1645920" cy="731520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3052"/>
                </a:solidFill>
                <a:latin typeface="Aptos"/>
              </a:defRPr>
            </a:pPr>
            <a:r>
              <a:t>W600K</a:t>
            </a:r>
            <a:br/>
            <a:r>
              <a:t>Embedding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89320" y="1417319"/>
            <a:ext cx="274320" cy="0"/>
          </a:xfrm>
          <a:prstGeom prst="line">
            <a:avLst/>
          </a:prstGeom>
          <a:ln w="279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63640" y="1051560"/>
            <a:ext cx="1645920" cy="731520"/>
          </a:xfrm>
          <a:prstGeom prst="roundRect">
            <a:avLst/>
          </a:prstGeom>
          <a:solidFill>
            <a:srgbClr val="E8F5EB"/>
          </a:solidFill>
          <a:ln w="15240"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3052"/>
                </a:solidFill>
                <a:latin typeface="Aptos"/>
              </a:defRPr>
            </a:pPr>
            <a:r>
              <a:t>Gallery</a:t>
            </a:r>
            <a:br/>
            <a:r>
              <a:t>Database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54680"/>
            <a:ext cx="164592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282D"/>
                </a:solidFill>
                <a:latin typeface="Aptos"/>
              </a:defRPr>
            </a:pPr>
            <a:r>
              <a:t>Video 1..N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48840" y="3520440"/>
            <a:ext cx="274320" cy="0"/>
          </a:xfrm>
          <a:prstGeom prst="line">
            <a:avLst/>
          </a:prstGeom>
          <a:ln w="279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23160" y="3154680"/>
            <a:ext cx="1645920" cy="731520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3052"/>
                </a:solidFill>
                <a:latin typeface="Aptos"/>
              </a:defRPr>
            </a:pPr>
            <a:r>
              <a:rPr dirty="0"/>
              <a:t>NVDEC</a:t>
            </a:r>
            <a:br>
              <a:rPr dirty="0"/>
            </a:br>
            <a:r>
              <a:rPr dirty="0"/>
              <a:t>GPU Decode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69080" y="3520440"/>
            <a:ext cx="274320" cy="0"/>
          </a:xfrm>
          <a:prstGeom prst="line">
            <a:avLst/>
          </a:prstGeom>
          <a:ln w="279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43400" y="3154680"/>
            <a:ext cx="1645920" cy="731520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3052"/>
                </a:solidFill>
                <a:latin typeface="Aptos"/>
              </a:defRPr>
            </a:pPr>
            <a:r>
              <a:t>SCRFD</a:t>
            </a:r>
            <a:br/>
            <a:r>
              <a:t>Face Detection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89320" y="3520440"/>
            <a:ext cx="274320" cy="0"/>
          </a:xfrm>
          <a:prstGeom prst="line">
            <a:avLst/>
          </a:prstGeom>
          <a:ln w="279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63640" y="3154680"/>
            <a:ext cx="164592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282D"/>
                </a:solidFill>
                <a:latin typeface="Aptos"/>
              </a:defRPr>
            </a:pPr>
            <a:r>
              <a:t>Face Crop +</a:t>
            </a:r>
            <a:br/>
            <a:r>
              <a:t>Tracking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09560" y="3520440"/>
            <a:ext cx="274319" cy="0"/>
          </a:xfrm>
          <a:prstGeom prst="line">
            <a:avLst/>
          </a:prstGeom>
          <a:ln w="279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183879" y="3154680"/>
            <a:ext cx="1645920" cy="731520"/>
          </a:xfrm>
          <a:prstGeom prst="roundRect">
            <a:avLst/>
          </a:prstGeom>
          <a:solidFill>
            <a:srgbClr val="E8F5EB"/>
          </a:solidFill>
          <a:ln w="15240"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E7D50"/>
                </a:solidFill>
                <a:latin typeface="Aptos"/>
              </a:defRPr>
            </a:pPr>
            <a:r>
              <a:t>W600K</a:t>
            </a:r>
            <a:br/>
            <a:r>
              <a:t>512-D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829800" y="3520440"/>
            <a:ext cx="274320" cy="0"/>
          </a:xfrm>
          <a:prstGeom prst="line">
            <a:avLst/>
          </a:prstGeom>
          <a:ln w="279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104120" y="3154680"/>
            <a:ext cx="16002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282D"/>
                </a:solidFill>
                <a:latin typeface="Aptos"/>
              </a:defRPr>
            </a:pPr>
            <a:r>
              <a:t>Cosine</a:t>
            </a:r>
            <a:br/>
            <a:r>
              <a:t>Similarity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86600" y="1783080"/>
            <a:ext cx="3749040" cy="1325880"/>
          </a:xfrm>
          <a:prstGeom prst="line">
            <a:avLst/>
          </a:prstGeom>
          <a:ln w="1905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657600" y="4892040"/>
            <a:ext cx="4846320" cy="777240"/>
          </a:xfrm>
          <a:prstGeom prst="roundRect">
            <a:avLst/>
          </a:prstGeom>
          <a:solidFill>
            <a:srgbClr val="E8F5EB"/>
          </a:solidFill>
          <a:ln w="15240"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E7D50"/>
                </a:solidFill>
                <a:latin typeface="Aptos"/>
              </a:defRPr>
            </a:pPr>
            <a:r>
              <a:t>≥ 60% → Known</a:t>
            </a:r>
            <a:br/>
            <a:r>
              <a:t>&lt; 60% → Unknown / Alert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8503920" y="3886200"/>
            <a:ext cx="2331720" cy="1005840"/>
          </a:xfrm>
          <a:prstGeom prst="line">
            <a:avLst/>
          </a:prstGeom>
          <a:ln w="1905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27080" y="6547104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604" y="2232650"/>
            <a:ext cx="4036382" cy="345975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8883" y="2232650"/>
            <a:ext cx="5241208" cy="32428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8127" y="825909"/>
            <a:ext cx="3765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Unknown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57042" y="966329"/>
            <a:ext cx="3765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known</a:t>
            </a:r>
            <a:endParaRPr lang="en-US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1991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11.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24237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rPr smtClean="0"/>
              <a:t>• </a:t>
            </a:r>
            <a:r>
              <a:rPr dirty="0"/>
              <a:t>The notebook implements the flow with </a:t>
            </a:r>
            <a:r>
              <a:rPr dirty="0" err="1"/>
              <a:t>InsightFace</a:t>
            </a:r>
            <a:r>
              <a:rPr dirty="0"/>
              <a:t> SCRFD, W600K and </a:t>
            </a:r>
            <a:r>
              <a:rPr dirty="0" err="1"/>
              <a:t>TensorRT</a:t>
            </a:r>
            <a:r>
              <a:rPr dirty="0"/>
              <a:t>.</a:t>
            </a:r>
          </a:p>
          <a:p>
            <a:pPr>
              <a:spcAft>
                <a:spcPts val="9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rPr dirty="0"/>
              <a:t>• The gallery stores reusable face </a:t>
            </a:r>
            <a:r>
              <a:rPr dirty="0" err="1"/>
              <a:t>embeddings</a:t>
            </a:r>
            <a:r>
              <a:rPr dirty="0"/>
              <a:t> for registered people.</a:t>
            </a:r>
          </a:p>
          <a:p>
            <a:pPr>
              <a:spcAft>
                <a:spcPts val="9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rPr dirty="0"/>
              <a:t>• Cosine similarity is used to identify known and unknown faces.</a:t>
            </a:r>
          </a:p>
          <a:p>
            <a:pPr>
              <a:spcAft>
                <a:spcPts val="9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rPr dirty="0"/>
              <a:t>• A 60% threshold is used for the current known/unknown decision.</a:t>
            </a:r>
          </a:p>
          <a:p>
            <a:pPr>
              <a:spcAft>
                <a:spcPts val="9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rPr dirty="0"/>
              <a:t>• The notebook adds multi-video processing, tracking, batching and performance controls.</a:t>
            </a:r>
          </a:p>
          <a:p>
            <a:pPr>
              <a:spcAft>
                <a:spcPts val="900"/>
              </a:spcAft>
              <a:defRPr sz="1900">
                <a:solidFill>
                  <a:srgbClr val="23282D"/>
                </a:solidFill>
                <a:latin typeface="Aptos"/>
              </a:defRPr>
            </a:pPr>
            <a:r>
              <a:rPr dirty="0"/>
              <a:t>• The design is ready to be extended from uploaded videos toward multiple camera streams.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715000"/>
            <a:ext cx="10515600" cy="566928"/>
          </a:xfrm>
          <a:prstGeom prst="roundRect">
            <a:avLst/>
          </a:prstGeom>
          <a:solidFill>
            <a:srgbClr val="E8F0F9"/>
          </a:solidFill>
          <a:ln w="1524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3052"/>
                </a:solidFill>
                <a:latin typeface="Aptos"/>
              </a:defRPr>
            </a:pPr>
            <a:r>
              <a:t>Final Flow: Multiple Videos → GPU Decode → SCRFD → W600K → Embedding Match → Known / Alert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C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27080" y="6547104"/>
            <a:ext cx="685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728</Words>
  <Application>Microsoft Office PowerPoint</Application>
  <PresentationFormat>Widescreen</PresentationFormat>
  <Paragraphs>140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HIZB ULLAH</cp:lastModifiedBy>
  <cp:revision>15</cp:revision>
  <dcterms:created xsi:type="dcterms:W3CDTF">2013-01-27T09:14:16Z</dcterms:created>
  <dcterms:modified xsi:type="dcterms:W3CDTF">2026-10-02T10:55:16Z</dcterms:modified>
  <cp:category/>
</cp:coreProperties>
</file>